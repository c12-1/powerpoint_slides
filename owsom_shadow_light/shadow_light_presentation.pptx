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778EE-F10C-92B4-31E5-E8E713911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7AADC2-2829-DBED-39A8-FB07C8F4C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7DC5C-5DBF-CFC0-2661-FBE2EAAD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C5374-1E09-E795-71F5-666CE381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8AD69-C748-ED6F-550D-6A3FC246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4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AC073-67DA-F1A6-0D45-67935D645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3EDA2-BEBE-51E5-4E63-0375E817C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E1836-2976-828B-E7DC-40381B7FF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602B6B-BDF9-8026-7AF5-D5FBD87F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BF002-6176-4687-3D91-30EF32F10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6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B2A20-89FD-F4C6-CF1B-435E2AD00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1F9E9-42E9-79AA-C214-12094C50C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B5257-3027-AE83-796A-DDED5A88E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40674-C663-74A5-1C6D-EC3F5275F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3221E-E387-BF95-E698-716424BC4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23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3425-BC01-F27D-504B-4E3B2BFC2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491-A3FA-CF11-F893-6BAB65998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9CD1A-86EC-0B97-8F6E-EF27A005B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11235-FE06-D0FD-068F-4AC2F019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AB3E9-2A1F-3A80-488F-361D7777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48E83-4552-874C-B33F-304E27D1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05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FC78-B3E1-7975-A69D-96A3FBFD2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C42C-C855-AA39-9A2A-578CCB7AA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25BBBC-AC03-6210-0731-3237078148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6DED6-5837-02D1-0C50-BCA09CB43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77B4AF-F752-E58B-A121-56B2E7803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0371A-79B4-16EB-5BC0-955875B3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AE4BB0-4CF6-BFDD-AC7A-FBC62DBDB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6AA6B-B1A5-332D-EA85-1DD2EF27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21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E7DF-5622-AA71-406F-851FBED81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B37F83-04AB-5150-24E3-7BF8A6D0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DB749-ED36-B807-1A08-D2AE3B02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214FB-43DB-F7C6-B894-FC8E188A9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2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390865-1875-E4A6-F562-543760E36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AB9BD9-9525-058F-A082-4FECEFA5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4BBFD-5312-D4E4-F60A-6E661C5AC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20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1E836-1C08-218B-BC23-DF529BA52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A2113-52AB-043A-AF06-83F828DF4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4DC1-8140-54C3-41FB-F8409DE38A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0B08D-D0DD-21CF-A660-7B280E379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AD0751-2E99-ED47-9C34-C795C4851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74474-0440-81A6-766D-EBE438D09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119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02311-17B6-0287-6EA5-0EAFE45D7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90090-38CC-FBFD-540B-9DF712DE18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A4379-4660-57C8-2BB7-CA40D1328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C314A4-A069-A948-7F4C-A5424BBF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2A5613-3A9A-A399-0341-C52ED45F4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BF28B-E4FB-B3B9-179B-C88B24BC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2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6A849-9109-2256-C8D3-83062D20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842F1E-637F-5824-47C7-F23A68CA78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B253D-0504-4C29-E2A8-E31B40920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90924-40FE-1AD7-D557-E0A4CC9DC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66192-2D8E-0162-5E1D-F961BE38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9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2BEEF6-291D-0531-F53A-2DDAF44166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0A7AF9-1B8B-5586-4DD1-73521011E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BCE74-AE7E-878C-C1F4-5D0298D8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41C78-E93A-53F1-BC3A-BA0C9569F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24D7B-9B86-6015-13BE-4CDE362E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27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A8AD8F-E706-2C4A-C507-1C5E269A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98F2B-4237-D18B-3E94-CBBDC5235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677BB-0FCB-BB34-0D3D-5759C470B2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C25EC-7E9A-4513-BDA2-F7575DC1B1EF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8A585-F8BC-FDE1-B0A5-EA15DE90F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5F98A-4B7C-E04E-B053-F6CB85849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26B85-821D-4317-A8F2-29443F001A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82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689955-4DB5-8607-ABC8-DCD6B3E15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7" y="33337"/>
            <a:ext cx="7591425" cy="6791325"/>
          </a:xfrm>
          <a:prstGeom prst="rect">
            <a:avLst/>
          </a:prstGeom>
        </p:spPr>
      </p:pic>
      <p:sp>
        <p:nvSpPr>
          <p:cNvPr id="6" name="Circle: Hollow 5">
            <a:extLst>
              <a:ext uri="{FF2B5EF4-FFF2-40B4-BE49-F238E27FC236}">
                <a16:creationId xmlns:a16="http://schemas.microsoft.com/office/drawing/2014/main" id="{CB144A1F-70AC-D492-5FD4-6A1327F43B04}"/>
              </a:ext>
            </a:extLst>
          </p:cNvPr>
          <p:cNvSpPr/>
          <p:nvPr/>
        </p:nvSpPr>
        <p:spPr>
          <a:xfrm>
            <a:off x="-7626485" y="-9922206"/>
            <a:ext cx="27276358" cy="27276346"/>
          </a:xfrm>
          <a:prstGeom prst="donut">
            <a:avLst>
              <a:gd name="adj" fmla="val 22860"/>
            </a:avLst>
          </a:prstGeom>
          <a:solidFill>
            <a:schemeClr val="tx1">
              <a:lumMod val="75000"/>
              <a:lumOff val="25000"/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rapezoid 6">
            <a:extLst>
              <a:ext uri="{FF2B5EF4-FFF2-40B4-BE49-F238E27FC236}">
                <a16:creationId xmlns:a16="http://schemas.microsoft.com/office/drawing/2014/main" id="{DD17B807-53E6-BDEB-6201-0C67611650C9}"/>
              </a:ext>
            </a:extLst>
          </p:cNvPr>
          <p:cNvSpPr/>
          <p:nvPr/>
        </p:nvSpPr>
        <p:spPr>
          <a:xfrm rot="10800000">
            <a:off x="4883756" y="7801583"/>
            <a:ext cx="2255873" cy="2964882"/>
          </a:xfrm>
          <a:prstGeom prst="trapezoid">
            <a:avLst>
              <a:gd name="adj" fmla="val 40924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926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4F223-4BFF-EFA1-E9D8-DAD18CFA9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2E9A0FA-EBEC-C93E-FF6F-42F5B994F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86BB7D9B-C55D-2AE2-76D7-535A7DBB8EBB}"/>
              </a:ext>
            </a:extLst>
          </p:cNvPr>
          <p:cNvSpPr/>
          <p:nvPr/>
        </p:nvSpPr>
        <p:spPr>
          <a:xfrm>
            <a:off x="-9766570" y="-10914428"/>
            <a:ext cx="27276358" cy="27276346"/>
          </a:xfrm>
          <a:prstGeom prst="donut">
            <a:avLst>
              <a:gd name="adj" fmla="val 45907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53FC8AC6-5451-146F-B40A-3F4F99B5CD63}"/>
              </a:ext>
            </a:extLst>
          </p:cNvPr>
          <p:cNvSpPr/>
          <p:nvPr/>
        </p:nvSpPr>
        <p:spPr>
          <a:xfrm rot="8865889">
            <a:off x="4265930" y="2398946"/>
            <a:ext cx="2255873" cy="5559006"/>
          </a:xfrm>
          <a:prstGeom prst="trapezoid">
            <a:avLst>
              <a:gd name="adj" fmla="val 40924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C5C09F-76E8-7AA6-AA20-5D9221CD7A0F}"/>
              </a:ext>
            </a:extLst>
          </p:cNvPr>
          <p:cNvSpPr txBox="1"/>
          <p:nvPr/>
        </p:nvSpPr>
        <p:spPr>
          <a:xfrm>
            <a:off x="6619736" y="1439693"/>
            <a:ext cx="373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Black </a:t>
            </a:r>
            <a:r>
              <a:rPr lang="fr-FR" sz="5400" b="1" dirty="0" err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hat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F2938D-27B8-820A-06AF-6FFC3E0BA683}"/>
              </a:ext>
            </a:extLst>
          </p:cNvPr>
          <p:cNvSpPr txBox="1"/>
          <p:nvPr/>
        </p:nvSpPr>
        <p:spPr>
          <a:xfrm>
            <a:off x="6619736" y="2363023"/>
            <a:ext cx="3513092" cy="195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20" b="1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-Malicious cybercriminals</a:t>
            </a:r>
          </a:p>
          <a:p>
            <a:r>
              <a:rPr lang="en-US" dirty="0"/>
              <a:t>Break into systems illegally for personal gain</a:t>
            </a:r>
          </a:p>
          <a:p>
            <a:r>
              <a:rPr lang="en-US" dirty="0"/>
              <a:t>Cause damage, steal data, or disrupt services</a:t>
            </a:r>
          </a:p>
          <a:p>
            <a:r>
              <a:rPr lang="en-US" dirty="0"/>
              <a:t>"The classic villains" of hacking</a:t>
            </a:r>
          </a:p>
        </p:txBody>
      </p:sp>
    </p:spTree>
    <p:extLst>
      <p:ext uri="{BB962C8B-B14F-4D97-AF65-F5344CB8AC3E}">
        <p14:creationId xmlns:p14="http://schemas.microsoft.com/office/powerpoint/2010/main" val="1005212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84E8F-F9A7-7CF7-B819-D23887509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E8FC482-216C-F1CF-B5C7-95371BA89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CA83DC8F-513B-344B-ED48-8FFC6D502BCE}"/>
              </a:ext>
            </a:extLst>
          </p:cNvPr>
          <p:cNvSpPr/>
          <p:nvPr/>
        </p:nvSpPr>
        <p:spPr>
          <a:xfrm>
            <a:off x="-7542179" y="-10894972"/>
            <a:ext cx="27276358" cy="27276346"/>
          </a:xfrm>
          <a:prstGeom prst="donut">
            <a:avLst>
              <a:gd name="adj" fmla="val 45907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D570E6A8-2B09-6CFC-A378-3D4EB6E82357}"/>
              </a:ext>
            </a:extLst>
          </p:cNvPr>
          <p:cNvSpPr/>
          <p:nvPr/>
        </p:nvSpPr>
        <p:spPr>
          <a:xfrm rot="11788674">
            <a:off x="4265930" y="2398946"/>
            <a:ext cx="2255873" cy="5559006"/>
          </a:xfrm>
          <a:prstGeom prst="trapezoid">
            <a:avLst>
              <a:gd name="adj" fmla="val 38232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9518D4-730D-C3D0-A38C-778BEE59C70D}"/>
              </a:ext>
            </a:extLst>
          </p:cNvPr>
          <p:cNvSpPr txBox="1"/>
          <p:nvPr/>
        </p:nvSpPr>
        <p:spPr>
          <a:xfrm>
            <a:off x="1166746" y="1322132"/>
            <a:ext cx="3741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White Hat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693B9-A7F2-71A8-382C-6B0C101BB192}"/>
              </a:ext>
            </a:extLst>
          </p:cNvPr>
          <p:cNvSpPr txBox="1"/>
          <p:nvPr/>
        </p:nvSpPr>
        <p:spPr>
          <a:xfrm>
            <a:off x="1178111" y="2235369"/>
            <a:ext cx="3404522" cy="195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2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-Ethical security professionals</a:t>
            </a:r>
          </a:p>
          <a:p>
            <a:r>
              <a:rPr lang="en-US" sz="202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 legally to strengthen cybersecurity</a:t>
            </a:r>
          </a:p>
          <a:p>
            <a:r>
              <a:rPr lang="en-US" sz="202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Hired by organizations to find vulnerabilities</a:t>
            </a:r>
          </a:p>
          <a:p>
            <a:r>
              <a:rPr lang="en-US" sz="202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"The good guys" of hacking</a:t>
            </a:r>
          </a:p>
        </p:txBody>
      </p:sp>
    </p:spTree>
    <p:extLst>
      <p:ext uri="{BB962C8B-B14F-4D97-AF65-F5344CB8AC3E}">
        <p14:creationId xmlns:p14="http://schemas.microsoft.com/office/powerpoint/2010/main" val="877839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D243B-1576-94DB-4A48-643E92054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97C0284-C578-6608-8391-37011DC2F4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66AEAB64-CE8B-5549-4BDC-3DB72CBFFDC2}"/>
              </a:ext>
            </a:extLst>
          </p:cNvPr>
          <p:cNvSpPr/>
          <p:nvPr/>
        </p:nvSpPr>
        <p:spPr>
          <a:xfrm>
            <a:off x="-5226996" y="-10875517"/>
            <a:ext cx="27276358" cy="27276346"/>
          </a:xfrm>
          <a:prstGeom prst="donut">
            <a:avLst>
              <a:gd name="adj" fmla="val 44971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DF3085B2-9E90-0D80-F7FF-032F6E04A66D}"/>
              </a:ext>
            </a:extLst>
          </p:cNvPr>
          <p:cNvSpPr/>
          <p:nvPr/>
        </p:nvSpPr>
        <p:spPr>
          <a:xfrm rot="13304320">
            <a:off x="4488038" y="1912557"/>
            <a:ext cx="2852134" cy="7462565"/>
          </a:xfrm>
          <a:prstGeom prst="trapezoid">
            <a:avLst>
              <a:gd name="adj" fmla="val 43065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41FD8-59D5-8BC4-F35E-87B57A4940D4}"/>
              </a:ext>
            </a:extLst>
          </p:cNvPr>
          <p:cNvSpPr txBox="1"/>
          <p:nvPr/>
        </p:nvSpPr>
        <p:spPr>
          <a:xfrm>
            <a:off x="1856351" y="1431654"/>
            <a:ext cx="373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Grey Hat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06D277-0B19-82C0-9A94-B27057B16F9E}"/>
              </a:ext>
            </a:extLst>
          </p:cNvPr>
          <p:cNvSpPr txBox="1"/>
          <p:nvPr/>
        </p:nvSpPr>
        <p:spPr>
          <a:xfrm>
            <a:off x="1856352" y="2299227"/>
            <a:ext cx="348119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Operate in the ethical gray area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May hack without permission but without malicious intent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Often expose vulnerabilities publicly to force fixes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"The rule-bending activists"</a:t>
            </a:r>
          </a:p>
        </p:txBody>
      </p:sp>
    </p:spTree>
    <p:extLst>
      <p:ext uri="{BB962C8B-B14F-4D97-AF65-F5344CB8AC3E}">
        <p14:creationId xmlns:p14="http://schemas.microsoft.com/office/powerpoint/2010/main" val="36630103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429D3-CF26-8C31-4619-02648D8E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FE8C45-3726-AF79-7CD8-A906AED21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48EB09EA-1AFA-32D3-D22A-0B7B5621D95F}"/>
              </a:ext>
            </a:extLst>
          </p:cNvPr>
          <p:cNvSpPr/>
          <p:nvPr/>
        </p:nvSpPr>
        <p:spPr>
          <a:xfrm>
            <a:off x="-9779541" y="-8112862"/>
            <a:ext cx="27276358" cy="27276346"/>
          </a:xfrm>
          <a:prstGeom prst="donut">
            <a:avLst>
              <a:gd name="adj" fmla="val 45470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730FB408-9634-792B-4330-26F6C889BA02}"/>
              </a:ext>
            </a:extLst>
          </p:cNvPr>
          <p:cNvSpPr/>
          <p:nvPr/>
        </p:nvSpPr>
        <p:spPr>
          <a:xfrm rot="9030600">
            <a:off x="4345621" y="4835237"/>
            <a:ext cx="2521470" cy="7448608"/>
          </a:xfrm>
          <a:prstGeom prst="trapezoid">
            <a:avLst>
              <a:gd name="adj" fmla="val 43065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6F1E4A-A9CF-5257-0513-9D859B954308}"/>
              </a:ext>
            </a:extLst>
          </p:cNvPr>
          <p:cNvSpPr txBox="1"/>
          <p:nvPr/>
        </p:nvSpPr>
        <p:spPr>
          <a:xfrm>
            <a:off x="5917987" y="2160873"/>
            <a:ext cx="373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Green Hat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F9FA2-1E70-2504-055A-29A3A78FDE72}"/>
              </a:ext>
            </a:extLst>
          </p:cNvPr>
          <p:cNvSpPr txBox="1"/>
          <p:nvPr/>
        </p:nvSpPr>
        <p:spPr>
          <a:xfrm>
            <a:off x="5917987" y="3084203"/>
            <a:ext cx="3271975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Beginners and learners</a:t>
            </a:r>
            <a:endParaRPr lang="en-US" sz="20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New to hacking and developing skills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Exploring cybersecurity fundamentals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"The aspiring hackers in training"</a:t>
            </a:r>
          </a:p>
        </p:txBody>
      </p:sp>
    </p:spTree>
    <p:extLst>
      <p:ext uri="{BB962C8B-B14F-4D97-AF65-F5344CB8AC3E}">
        <p14:creationId xmlns:p14="http://schemas.microsoft.com/office/powerpoint/2010/main" val="2669221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3C18-ADDD-5F35-5821-2D376F81D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133568-7016-5DB4-33F5-756634185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2631DEB8-C975-17F9-71AF-EB9BFA2CC0C9}"/>
              </a:ext>
            </a:extLst>
          </p:cNvPr>
          <p:cNvSpPr/>
          <p:nvPr/>
        </p:nvSpPr>
        <p:spPr>
          <a:xfrm>
            <a:off x="-7542179" y="-8112862"/>
            <a:ext cx="27276358" cy="27276346"/>
          </a:xfrm>
          <a:prstGeom prst="donut">
            <a:avLst>
              <a:gd name="adj" fmla="val 45576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2772838D-29E0-CF1D-2753-2FF980FE4F76}"/>
              </a:ext>
            </a:extLst>
          </p:cNvPr>
          <p:cNvSpPr/>
          <p:nvPr/>
        </p:nvSpPr>
        <p:spPr>
          <a:xfrm rot="11674210">
            <a:off x="4085390" y="4855444"/>
            <a:ext cx="2441792" cy="7459173"/>
          </a:xfrm>
          <a:prstGeom prst="trapezoid">
            <a:avLst>
              <a:gd name="adj" fmla="val 43065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94AE77-7478-55E4-4234-7222506E9D3C}"/>
              </a:ext>
            </a:extLst>
          </p:cNvPr>
          <p:cNvSpPr txBox="1"/>
          <p:nvPr/>
        </p:nvSpPr>
        <p:spPr>
          <a:xfrm>
            <a:off x="7619196" y="2141442"/>
            <a:ext cx="373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Blue Hat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7DD53B-B34F-9065-D097-66FCF6511DB7}"/>
              </a:ext>
            </a:extLst>
          </p:cNvPr>
          <p:cNvSpPr txBox="1"/>
          <p:nvPr/>
        </p:nvSpPr>
        <p:spPr>
          <a:xfrm>
            <a:off x="7619196" y="3064772"/>
            <a:ext cx="3598152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External security testers</a:t>
            </a:r>
            <a:endParaRPr lang="en-US" sz="20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Hired by companies to test specific systems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Similar to white hats but often more specialized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"The contracted security consultants"</a:t>
            </a:r>
          </a:p>
        </p:txBody>
      </p:sp>
    </p:spTree>
    <p:extLst>
      <p:ext uri="{BB962C8B-B14F-4D97-AF65-F5344CB8AC3E}">
        <p14:creationId xmlns:p14="http://schemas.microsoft.com/office/powerpoint/2010/main" val="1574512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7C098-18A5-08AC-C3D4-5DA31CF11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9E86BC-DC19-8624-4955-B220889DF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286" y="66675"/>
            <a:ext cx="7591425" cy="6791325"/>
          </a:xfrm>
          <a:prstGeom prst="rect">
            <a:avLst/>
          </a:prstGeo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581483F6-CD16-C099-1C08-4F10A404C0E9}"/>
              </a:ext>
            </a:extLst>
          </p:cNvPr>
          <p:cNvSpPr/>
          <p:nvPr/>
        </p:nvSpPr>
        <p:spPr>
          <a:xfrm>
            <a:off x="-5324273" y="-8093406"/>
            <a:ext cx="27276358" cy="27276346"/>
          </a:xfrm>
          <a:prstGeom prst="donut">
            <a:avLst>
              <a:gd name="adj" fmla="val 45470"/>
            </a:avLst>
          </a:prstGeom>
          <a:solidFill>
            <a:schemeClr val="tx1">
              <a:lumMod val="75000"/>
              <a:lumOff val="25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rapezoid 10">
            <a:extLst>
              <a:ext uri="{FF2B5EF4-FFF2-40B4-BE49-F238E27FC236}">
                <a16:creationId xmlns:a16="http://schemas.microsoft.com/office/drawing/2014/main" id="{1EA748D9-925E-33E2-AFAA-58E4F4FE8562}"/>
              </a:ext>
            </a:extLst>
          </p:cNvPr>
          <p:cNvSpPr/>
          <p:nvPr/>
        </p:nvSpPr>
        <p:spPr>
          <a:xfrm rot="13663418">
            <a:off x="4511795" y="4134021"/>
            <a:ext cx="2620027" cy="7334173"/>
          </a:xfrm>
          <a:prstGeom prst="trapezoid">
            <a:avLst>
              <a:gd name="adj" fmla="val 43065"/>
            </a:avLst>
          </a:prstGeom>
          <a:gradFill flip="none" rotWithShape="1">
            <a:gsLst>
              <a:gs pos="100000">
                <a:schemeClr val="bg1">
                  <a:lumMod val="98000"/>
                  <a:lumOff val="2000"/>
                  <a:alpha val="87000"/>
                </a:schemeClr>
              </a:gs>
              <a:gs pos="1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C8102A-B493-7F4E-F783-C83D5EB4301E}"/>
              </a:ext>
            </a:extLst>
          </p:cNvPr>
          <p:cNvSpPr txBox="1"/>
          <p:nvPr/>
        </p:nvSpPr>
        <p:spPr>
          <a:xfrm>
            <a:off x="3068461" y="2279665"/>
            <a:ext cx="37354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Red Hat </a:t>
            </a:r>
            <a:endParaRPr lang="en-US" sz="540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9D280-2DE5-9569-B43E-CCA91421D769}"/>
              </a:ext>
            </a:extLst>
          </p:cNvPr>
          <p:cNvSpPr txBox="1"/>
          <p:nvPr/>
        </p:nvSpPr>
        <p:spPr>
          <a:xfrm>
            <a:off x="3068461" y="3202995"/>
            <a:ext cx="3271975" cy="29007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1" i="0" dirty="0">
                <a:solidFill>
                  <a:srgbClr val="F9FAFB"/>
                </a:solidFill>
                <a:effectLst/>
                <a:latin typeface="quote-cjk-patch"/>
              </a:rPr>
              <a:t>Aggressive cybersecurity defenders</a:t>
            </a:r>
            <a:endParaRPr lang="en-US" sz="20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Use hacker techniques against black hats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May actively disrupt or disable attackers' systems</a:t>
            </a:r>
          </a:p>
          <a:p>
            <a:pPr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F9FAFB"/>
                </a:solidFill>
                <a:effectLst/>
                <a:latin typeface="quote-cjk-patch"/>
              </a:rPr>
              <a:t>"The vigilante defenders"</a:t>
            </a:r>
          </a:p>
        </p:txBody>
      </p:sp>
    </p:spTree>
    <p:extLst>
      <p:ext uri="{BB962C8B-B14F-4D97-AF65-F5344CB8AC3E}">
        <p14:creationId xmlns:p14="http://schemas.microsoft.com/office/powerpoint/2010/main" val="256953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151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Franklin Gothic Heavy</vt:lpstr>
      <vt:lpstr>quote-cjk-patch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2</cp:revision>
  <dcterms:created xsi:type="dcterms:W3CDTF">2025-09-26T21:04:24Z</dcterms:created>
  <dcterms:modified xsi:type="dcterms:W3CDTF">2025-09-27T21:19:42Z</dcterms:modified>
</cp:coreProperties>
</file>